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3" name="Shape 1"/>
          <p:cNvSpPr/>
          <p:nvPr/>
        </p:nvSpPr>
        <p:spPr>
          <a:xfrm>
            <a:off x="1247973" y="1481328"/>
            <a:ext cx="539862" cy="0"/>
          </a:xfrm>
          <a:prstGeom prst="line">
            <a:avLst/>
          </a:prstGeom>
          <a:noFill/>
          <a:ln w="27651">
            <a:solidFill>
              <a:srgbClr val="E9EB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17904" y="1211397"/>
            <a:ext cx="0" cy="539862"/>
          </a:xfrm>
          <a:prstGeom prst="line">
            <a:avLst/>
          </a:prstGeom>
          <a:noFill/>
          <a:ln w="27651">
            <a:solidFill>
              <a:srgbClr val="E9EB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7036" y="1290460"/>
            <a:ext cx="381736" cy="381736"/>
          </a:xfrm>
          <a:prstGeom prst="line">
            <a:avLst/>
          </a:prstGeom>
          <a:noFill/>
          <a:ln w="27651">
            <a:solidFill>
              <a:srgbClr val="E9EB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327036" y="1290460"/>
            <a:ext cx="381736" cy="381736"/>
          </a:xfrm>
          <a:prstGeom prst="line">
            <a:avLst/>
          </a:prstGeom>
          <a:noFill/>
          <a:ln w="27651">
            <a:solidFill>
              <a:srgbClr val="E9EB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50020" y="1313444"/>
            <a:ext cx="335768" cy="335768"/>
          </a:xfrm>
          <a:prstGeom prst="ellipse">
            <a:avLst/>
          </a:prstGeom>
          <a:ln w="27651">
            <a:solidFill>
              <a:srgbClr val="E9EB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29898" y="1423392"/>
            <a:ext cx="115873" cy="115873"/>
          </a:xfrm>
          <a:prstGeom prst="ellipse">
            <a:avLst/>
          </a:prstGeom>
          <a:solidFill>
            <a:srgbClr val="E9EBDF"/>
          </a:solidFill>
          <a:ln/>
        </p:spPr>
      </p:sp>
      <p:sp>
        <p:nvSpPr>
          <p:cNvPr id="9" name="Shape 7"/>
          <p:cNvSpPr/>
          <p:nvPr/>
        </p:nvSpPr>
        <p:spPr>
          <a:xfrm>
            <a:off x="1650838" y="1232522"/>
            <a:ext cx="115873" cy="115873"/>
          </a:xfrm>
          <a:prstGeom prst="ellipse">
            <a:avLst/>
          </a:prstGeom>
          <a:solidFill>
            <a:srgbClr val="E9EBDF"/>
          </a:solidFill>
          <a:ln/>
        </p:spPr>
      </p:sp>
      <p:sp>
        <p:nvSpPr>
          <p:cNvPr id="10" name="Shape 8"/>
          <p:cNvSpPr/>
          <p:nvPr/>
        </p:nvSpPr>
        <p:spPr>
          <a:xfrm>
            <a:off x="1459968" y="1153461"/>
            <a:ext cx="115873" cy="115873"/>
          </a:xfrm>
          <a:prstGeom prst="ellipse">
            <a:avLst/>
          </a:prstGeom>
          <a:solidFill>
            <a:srgbClr val="E9EBDF"/>
          </a:solidFill>
          <a:ln/>
        </p:spPr>
      </p:sp>
      <p:sp>
        <p:nvSpPr>
          <p:cNvPr id="11" name="Shape 9"/>
          <p:cNvSpPr/>
          <p:nvPr/>
        </p:nvSpPr>
        <p:spPr>
          <a:xfrm>
            <a:off x="1269098" y="1232522"/>
            <a:ext cx="115873" cy="115873"/>
          </a:xfrm>
          <a:prstGeom prst="ellipse">
            <a:avLst/>
          </a:prstGeom>
          <a:solidFill>
            <a:srgbClr val="E9EBD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90037" y="1423392"/>
            <a:ext cx="115873" cy="115873"/>
          </a:xfrm>
          <a:prstGeom prst="ellipse">
            <a:avLst/>
          </a:prstGeom>
          <a:solidFill>
            <a:srgbClr val="E9EBD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69098" y="1614262"/>
            <a:ext cx="115873" cy="115873"/>
          </a:xfrm>
          <a:prstGeom prst="ellipse">
            <a:avLst/>
          </a:prstGeom>
          <a:solidFill>
            <a:srgbClr val="E9EBDF"/>
          </a:solidFill>
          <a:ln/>
        </p:spPr>
      </p:sp>
      <p:sp>
        <p:nvSpPr>
          <p:cNvPr id="14" name="Shape 12"/>
          <p:cNvSpPr/>
          <p:nvPr/>
        </p:nvSpPr>
        <p:spPr>
          <a:xfrm>
            <a:off x="1459968" y="1693322"/>
            <a:ext cx="115873" cy="115873"/>
          </a:xfrm>
          <a:prstGeom prst="ellipse">
            <a:avLst/>
          </a:prstGeom>
          <a:solidFill>
            <a:srgbClr val="E9EBDF"/>
          </a:solidFill>
          <a:ln/>
        </p:spPr>
      </p:sp>
      <p:sp>
        <p:nvSpPr>
          <p:cNvPr id="15" name="Shape 13"/>
          <p:cNvSpPr/>
          <p:nvPr/>
        </p:nvSpPr>
        <p:spPr>
          <a:xfrm>
            <a:off x="1650838" y="1614262"/>
            <a:ext cx="115873" cy="115873"/>
          </a:xfrm>
          <a:prstGeom prst="ellipse">
            <a:avLst/>
          </a:prstGeom>
          <a:solidFill>
            <a:srgbClr val="E9EBDF"/>
          </a:solidFill>
          <a:ln/>
        </p:spPr>
      </p:sp>
      <p:sp>
        <p:nvSpPr>
          <p:cNvPr id="16" name="Shape 14"/>
          <p:cNvSpPr/>
          <p:nvPr/>
        </p:nvSpPr>
        <p:spPr>
          <a:xfrm>
            <a:off x="1475110" y="1438534"/>
            <a:ext cx="85588" cy="85588"/>
          </a:xfrm>
          <a:prstGeom prst="ellipse">
            <a:avLst/>
          </a:prstGeom>
          <a:solidFill>
            <a:srgbClr val="E9EBDF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2057400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4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 BETA LAMBDA · CHAPTER ORIENTATION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395728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Org</a:t>
            </a:r>
            <a:endParaRPr lang="en-US" sz="6000" dirty="0"/>
          </a:p>
        </p:txBody>
      </p:sp>
      <p:sp>
        <p:nvSpPr>
          <p:cNvPr id="19" name="Shape 17"/>
          <p:cNvSpPr/>
          <p:nvPr/>
        </p:nvSpPr>
        <p:spPr>
          <a:xfrm>
            <a:off x="1188720" y="3712464"/>
            <a:ext cx="1463040" cy="41148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3986784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been sorted into a team for the year. Here is what that means, and how you earn points for it.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88720" y="5943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org.deanzapbl.com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2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SHORT VERSION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things are true of you now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706624"/>
            <a:ext cx="3326282" cy="2743200"/>
          </a:xfrm>
          <a:prstGeom prst="roundRect">
            <a:avLst>
              <a:gd name="adj" fmla="val 2000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706624"/>
            <a:ext cx="45720" cy="2743200"/>
          </a:xfrm>
          <a:prstGeom prst="rect">
            <a:avLst/>
          </a:prstGeom>
          <a:solidFill>
            <a:srgbClr val="7AA9DD"/>
          </a:solidFill>
          <a:ln/>
        </p:spPr>
      </p:sp>
      <p:sp>
        <p:nvSpPr>
          <p:cNvPr id="7" name="Text 5"/>
          <p:cNvSpPr/>
          <p:nvPr/>
        </p:nvSpPr>
        <p:spPr>
          <a:xfrm>
            <a:off x="1088136" y="2980944"/>
            <a:ext cx="2704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7AA9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8136" y="3310128"/>
            <a:ext cx="27044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 are in an Org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88136" y="3767328"/>
            <a:ext cx="270449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of about ten, drawn from across the chapter. It is yours for the year.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32706" y="2706624"/>
            <a:ext cx="3326282" cy="2743200"/>
          </a:xfrm>
          <a:prstGeom prst="roundRect">
            <a:avLst>
              <a:gd name="adj" fmla="val 2000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2706" y="2706624"/>
            <a:ext cx="45720" cy="2743200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12" name="Text 10"/>
          <p:cNvSpPr/>
          <p:nvPr/>
        </p:nvSpPr>
        <p:spPr>
          <a:xfrm>
            <a:off x="4743602" y="2980944"/>
            <a:ext cx="2704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1858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43602" y="3310128"/>
            <a:ext cx="27044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 earn points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43602" y="3767328"/>
            <a:ext cx="270449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everything you show up to is worth something, and it is credited to your Org.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88173" y="2706624"/>
            <a:ext cx="3326282" cy="2743200"/>
          </a:xfrm>
          <a:prstGeom prst="roundRect">
            <a:avLst>
              <a:gd name="adj" fmla="val 2000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88173" y="2706624"/>
            <a:ext cx="45720" cy="2743200"/>
          </a:xfrm>
          <a:prstGeom prst="rect">
            <a:avLst/>
          </a:prstGeom>
          <a:solidFill>
            <a:srgbClr val="E8765E"/>
          </a:solidFill>
          <a:ln/>
        </p:spPr>
      </p:sp>
      <p:sp>
        <p:nvSpPr>
          <p:cNvPr id="17" name="Text 15"/>
          <p:cNvSpPr/>
          <p:nvPr/>
        </p:nvSpPr>
        <p:spPr>
          <a:xfrm>
            <a:off x="8399069" y="2980944"/>
            <a:ext cx="2704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E87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99069" y="3310128"/>
            <a:ext cx="27044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Org competes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99069" y="3767328"/>
            <a:ext cx="270449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every other Org, all semester, for the Org Cup.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2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AN ORG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cross-section of the chapter, not a friend group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49424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2395728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~10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14984" y="307238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2249424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2424" y="2395728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92424" y="307238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32120" y="2249424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9864" y="2395728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769864" y="307238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WAYS IT IS BALANCED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2295144"/>
            <a:ext cx="3322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6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 is a small standing team inside the chapter. You did not pick it and neither did your friends — it was dealt so that every Org looks roughly like the chapter as a whole.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" y="3877056"/>
            <a:ext cx="54864" cy="868680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16" name="Text 14"/>
          <p:cNvSpPr/>
          <p:nvPr/>
        </p:nvSpPr>
        <p:spPr>
          <a:xfrm>
            <a:off x="1088136" y="3895344"/>
            <a:ext cx="10088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23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That is the point. You end the year knowing ten people you would not otherwise have met, across both divisions and both year groups.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2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YOU DID NOT CHOOSE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draft balanced when it placed you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368296"/>
            <a:ext cx="3326282" cy="2286000"/>
          </a:xfrm>
          <a:prstGeom prst="roundRect">
            <a:avLst>
              <a:gd name="adj" fmla="val 2400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68296"/>
            <a:ext cx="45720" cy="2286000"/>
          </a:xfrm>
          <a:prstGeom prst="rect">
            <a:avLst/>
          </a:prstGeom>
          <a:solidFill>
            <a:srgbClr val="7AA9DD"/>
          </a:solidFill>
          <a:ln/>
        </p:spPr>
      </p:sp>
      <p:sp>
        <p:nvSpPr>
          <p:cNvPr id="7" name="Text 5"/>
          <p:cNvSpPr/>
          <p:nvPr/>
        </p:nvSpPr>
        <p:spPr>
          <a:xfrm>
            <a:off x="1088136" y="2642616"/>
            <a:ext cx="27044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Size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88136" y="3099816"/>
            <a:ext cx="27044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Org comes out within one member of every other, so no team is carrying a numbers disadvantage in the Cup.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2706" y="2368296"/>
            <a:ext cx="3326282" cy="2286000"/>
          </a:xfrm>
          <a:prstGeom prst="roundRect">
            <a:avLst>
              <a:gd name="adj" fmla="val 2400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2706" y="2368296"/>
            <a:ext cx="45720" cy="2286000"/>
          </a:xfrm>
          <a:prstGeom prst="rect">
            <a:avLst/>
          </a:prstGeom>
          <a:solidFill>
            <a:srgbClr val="E8765E"/>
          </a:solidFill>
          <a:ln/>
        </p:spPr>
      </p:sp>
      <p:sp>
        <p:nvSpPr>
          <p:cNvPr id="11" name="Text 9"/>
          <p:cNvSpPr/>
          <p:nvPr/>
        </p:nvSpPr>
        <p:spPr>
          <a:xfrm>
            <a:off x="4743602" y="2642616"/>
            <a:ext cx="27044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Division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43602" y="3099816"/>
            <a:ext cx="27044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and case competition people are spread across all the Orgs rather than clustering into two camps.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88173" y="2368296"/>
            <a:ext cx="3326282" cy="2286000"/>
          </a:xfrm>
          <a:prstGeom prst="roundRect">
            <a:avLst>
              <a:gd name="adj" fmla="val 2400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8173" y="2368296"/>
            <a:ext cx="45720" cy="2286000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15" name="Text 13"/>
          <p:cNvSpPr/>
          <p:nvPr/>
        </p:nvSpPr>
        <p:spPr>
          <a:xfrm>
            <a:off x="8399069" y="2642616"/>
            <a:ext cx="27044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Tenure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99069" y="3099816"/>
            <a:ext cx="27044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First-years and returning members are mixed, so no Org is all new and none is a closed circle of veterans.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965192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4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fourth axis spreads members who said they are interested in leading, so every Org has somebody willing to organise it. If the chapter uses personality types, a fifth keeps any one Org from being nine of the same person.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2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GETTING 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steps, once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359152"/>
            <a:ext cx="10637215" cy="1024128"/>
          </a:xfrm>
          <a:prstGeom prst="roundRect">
            <a:avLst>
              <a:gd name="adj" fmla="val 5357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633472"/>
            <a:ext cx="475488" cy="475488"/>
          </a:xfrm>
          <a:prstGeom prst="ellipse">
            <a:avLst/>
          </a:prstGeom>
          <a:solidFill>
            <a:srgbClr val="0E352C"/>
          </a:solidFill>
          <a:ln w="12700">
            <a:solidFill>
              <a:srgbClr val="1858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688336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EB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46504" y="25328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 in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129784" y="2542032"/>
            <a:ext cx="5973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is the normal door. The page receives your name, email and picture — never your password.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77240" y="3566160"/>
            <a:ext cx="10637215" cy="1024128"/>
          </a:xfrm>
          <a:prstGeom prst="roundRect">
            <a:avLst>
              <a:gd name="adj" fmla="val 5357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3840480"/>
            <a:ext cx="475488" cy="475488"/>
          </a:xfrm>
          <a:prstGeom prst="ellipse">
            <a:avLst/>
          </a:prstGeom>
          <a:solidFill>
            <a:srgbClr val="0E352C"/>
          </a:solidFill>
          <a:ln w="12700">
            <a:solidFill>
              <a:srgbClr val="1858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89534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EB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46504" y="37398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Join the chapter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129784" y="3749040"/>
            <a:ext cx="5973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it from the list, then send the sign-up form. The rest opens once it is in.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" y="4773168"/>
            <a:ext cx="10637215" cy="1024128"/>
          </a:xfrm>
          <a:prstGeom prst="roundRect">
            <a:avLst>
              <a:gd name="adj" fmla="val 5357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5047488"/>
            <a:ext cx="475488" cy="475488"/>
          </a:xfrm>
          <a:prstGeom prst="ellipse">
            <a:avLst/>
          </a:prstGeom>
          <a:solidFill>
            <a:srgbClr val="0E352C"/>
          </a:solidFill>
          <a:ln w="12700">
            <a:solidFill>
              <a:srgbClr val="1858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10235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EB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46504" y="49469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Fill in the form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129784" y="4956048"/>
            <a:ext cx="5973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in the chapter, which division you lean toward, and whether you want to lead. Two minutes.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2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THE FORM IS NOT OPTIONAL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blank answer does not make you neutral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638044"/>
            <a:ext cx="10637215" cy="3017520"/>
          </a:xfrm>
          <a:prstGeom prst="roundRect">
            <a:avLst>
              <a:gd name="adj" fmla="val 1818"/>
            </a:avLst>
          </a:prstGeom>
          <a:solidFill>
            <a:srgbClr val="0E0E0E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38044"/>
            <a:ext cx="54864" cy="3017520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7" name="Text 5"/>
          <p:cNvSpPr/>
          <p:nvPr/>
        </p:nvSpPr>
        <p:spPr>
          <a:xfrm>
            <a:off x="1380744" y="3113532"/>
            <a:ext cx="9357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axis the draft balances comes from your form answers. Leave one blank and the sorter has nothing to work with.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380744" y="4302252"/>
            <a:ext cx="93570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 are not neutral — you are a coin flip, and so is the Org that ends up with you.</a:t>
            </a:r>
            <a:endParaRPr lang="en-US" sz="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2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ORG CUP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the competition is put together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350008"/>
            <a:ext cx="10637215" cy="603504"/>
          </a:xfrm>
          <a:prstGeom prst="roundRect">
            <a:avLst>
              <a:gd name="adj" fmla="val 9091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50008"/>
            <a:ext cx="45720" cy="603504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7" name="Text 5"/>
          <p:cNvSpPr/>
          <p:nvPr/>
        </p:nvSpPr>
        <p:spPr>
          <a:xfrm>
            <a:off x="1088136" y="2542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2E9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SEASON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54680" y="2496312"/>
            <a:ext cx="7939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fourteen weeks. Every Org starts at zero in week one.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3063240"/>
            <a:ext cx="10637215" cy="603504"/>
          </a:xfrm>
          <a:prstGeom prst="roundRect">
            <a:avLst>
              <a:gd name="adj" fmla="val 9091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63240"/>
            <a:ext cx="45720" cy="603504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11" name="Text 9"/>
          <p:cNvSpPr/>
          <p:nvPr/>
        </p:nvSpPr>
        <p:spPr>
          <a:xfrm>
            <a:off x="1088136" y="3255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2E9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UNIT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54680" y="3209544"/>
            <a:ext cx="7939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member, at one thing, on one date. That is what gets logged.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" y="3776472"/>
            <a:ext cx="10637215" cy="603504"/>
          </a:xfrm>
          <a:prstGeom prst="roundRect">
            <a:avLst>
              <a:gd name="adj" fmla="val 9091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776472"/>
            <a:ext cx="45720" cy="603504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15" name="Text 13"/>
          <p:cNvSpPr/>
          <p:nvPr/>
        </p:nvSpPr>
        <p:spPr>
          <a:xfrm>
            <a:off x="1088136" y="39684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2E9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TOTAL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154680" y="3922776"/>
            <a:ext cx="7939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any member earns is credited to their Org, plus whole-team bonuses.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489704"/>
            <a:ext cx="10637215" cy="603504"/>
          </a:xfrm>
          <a:prstGeom prst="roundRect">
            <a:avLst>
              <a:gd name="adj" fmla="val 9091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489704"/>
            <a:ext cx="45720" cy="603504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19" name="Text 17"/>
          <p:cNvSpPr/>
          <p:nvPr/>
        </p:nvSpPr>
        <p:spPr>
          <a:xfrm>
            <a:off x="1088136" y="4681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2E9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RANKING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154680" y="4636008"/>
            <a:ext cx="7939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Orgs are ranked on points per member, not on raw totals.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240" y="5202936"/>
            <a:ext cx="10637215" cy="603504"/>
          </a:xfrm>
          <a:prstGeom prst="roundRect">
            <a:avLst>
              <a:gd name="adj" fmla="val 9091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202936"/>
            <a:ext cx="45720" cy="603504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23" name="Text 21"/>
          <p:cNvSpPr/>
          <p:nvPr/>
        </p:nvSpPr>
        <p:spPr>
          <a:xfrm>
            <a:off x="1088136" y="5394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2E9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WINNER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154680" y="5349240"/>
            <a:ext cx="7939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is top of that table when the season ends.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2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EARNING POINTS · 1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Six kinds of thing are worth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58568"/>
            <a:ext cx="10637215" cy="1115568"/>
          </a:xfrm>
          <a:prstGeom prst="roundRect">
            <a:avLst>
              <a:gd name="adj" fmla="val 4918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58568"/>
            <a:ext cx="54864" cy="1115568"/>
          </a:xfrm>
          <a:prstGeom prst="rect">
            <a:avLst/>
          </a:prstGeom>
          <a:solidFill>
            <a:srgbClr val="7AA9DD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" y="2569464"/>
            <a:ext cx="182880" cy="182880"/>
          </a:xfrm>
          <a:prstGeom prst="rect">
            <a:avLst/>
          </a:prstGeom>
          <a:solidFill>
            <a:srgbClr val="7AA9DD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468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Meetings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3657600" y="2423160"/>
            <a:ext cx="7436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chapter meetings, division workshops, study and prep sessions. Individually the smallest amount — but they happen most weeks, so over a semester they are the largest share of most members’ totals.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77240" y="3520440"/>
            <a:ext cx="10637215" cy="1115568"/>
          </a:xfrm>
          <a:prstGeom prst="roundRect">
            <a:avLst>
              <a:gd name="adj" fmla="val 4918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20440"/>
            <a:ext cx="54864" cy="1115568"/>
          </a:xfrm>
          <a:prstGeom prst="rect">
            <a:avLst/>
          </a:prstGeom>
          <a:solidFill>
            <a:srgbClr val="E87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6424" y="3831336"/>
            <a:ext cx="182880" cy="182880"/>
          </a:xfrm>
          <a:prstGeom prst="rect">
            <a:avLst/>
          </a:prstGeom>
          <a:solidFill>
            <a:srgbClr val="E8765E"/>
          </a:solidFill>
          <a:ln/>
        </p:spPr>
      </p:sp>
      <p:sp>
        <p:nvSpPr>
          <p:cNvPr id="13" name="Text 11"/>
          <p:cNvSpPr/>
          <p:nvPr/>
        </p:nvSpPr>
        <p:spPr>
          <a:xfrm>
            <a:off x="1417320" y="37307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Competition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657600" y="3685032"/>
            <a:ext cx="7436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competitions, conference events, state and national qualifiers. The highest per-event value in the catalog, because it is the chapter competing in public. Usually scored twice: once for entering, again for placing.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" y="4782312"/>
            <a:ext cx="10637215" cy="1115568"/>
          </a:xfrm>
          <a:prstGeom prst="roundRect">
            <a:avLst>
              <a:gd name="adj" fmla="val 4918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782312"/>
            <a:ext cx="54864" cy="1115568"/>
          </a:xfrm>
          <a:prstGeom prst="rect">
            <a:avLst/>
          </a:prstGeom>
          <a:solidFill>
            <a:srgbClr val="4FAE8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6424" y="5093208"/>
            <a:ext cx="182880" cy="182880"/>
          </a:xfrm>
          <a:prstGeom prst="rect">
            <a:avLst/>
          </a:prstGeom>
          <a:solidFill>
            <a:srgbClr val="4FAE8C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49926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3657600" y="4946904"/>
            <a:ext cx="7436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service, philanthropy, volunteering hours. Often logged by the hour rather than the event, so a long Saturday counts more than a short one.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2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EARNING POINTS · 2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the three that are easy to forget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58568"/>
            <a:ext cx="10637215" cy="1115568"/>
          </a:xfrm>
          <a:prstGeom prst="roundRect">
            <a:avLst>
              <a:gd name="adj" fmla="val 4918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58568"/>
            <a:ext cx="54864" cy="1115568"/>
          </a:xfrm>
          <a:prstGeom prst="rect">
            <a:avLst/>
          </a:prstGeom>
          <a:solidFill>
            <a:srgbClr val="C9A24A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" y="2569464"/>
            <a:ext cx="182880" cy="182880"/>
          </a:xfrm>
          <a:prstGeom prst="rect">
            <a:avLst/>
          </a:prstGeom>
          <a:solidFill>
            <a:srgbClr val="C9A24A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468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Social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3657600" y="2423160"/>
            <a:ext cx="7436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Mixers, banquets, retreats, Org socials. Deliberately worth less than competition — but these are what turn ten people who were assigned to each other into a team that shows up for each other.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77240" y="3520440"/>
            <a:ext cx="10637215" cy="1115568"/>
          </a:xfrm>
          <a:prstGeom prst="roundRect">
            <a:avLst>
              <a:gd name="adj" fmla="val 4918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20440"/>
            <a:ext cx="54864" cy="1115568"/>
          </a:xfrm>
          <a:prstGeom prst="rect">
            <a:avLst/>
          </a:prstGeom>
          <a:solidFill>
            <a:srgbClr val="A98BD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6424" y="3831336"/>
            <a:ext cx="182880" cy="182880"/>
          </a:xfrm>
          <a:prstGeom prst="rect">
            <a:avLst/>
          </a:prstGeom>
          <a:solidFill>
            <a:srgbClr val="A98BD0"/>
          </a:solidFill>
          <a:ln/>
        </p:spPr>
      </p:sp>
      <p:sp>
        <p:nvSpPr>
          <p:cNvPr id="13" name="Text 11"/>
          <p:cNvSpPr/>
          <p:nvPr/>
        </p:nvSpPr>
        <p:spPr>
          <a:xfrm>
            <a:off x="1417320" y="37307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Leadership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657600" y="3685032"/>
            <a:ext cx="7436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workshop, leading a session, holding a role, mentoring a first-year. Worth a lot per instance because few people do it. This is the category most within your control.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" y="4782312"/>
            <a:ext cx="10637215" cy="1115568"/>
          </a:xfrm>
          <a:prstGeom prst="roundRect">
            <a:avLst>
              <a:gd name="adj" fmla="val 4918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782312"/>
            <a:ext cx="54864" cy="1115568"/>
          </a:xfrm>
          <a:prstGeom prst="rect">
            <a:avLst/>
          </a:prstGeom>
          <a:solidFill>
            <a:srgbClr val="4FA3A3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6424" y="5093208"/>
            <a:ext cx="182880" cy="182880"/>
          </a:xfrm>
          <a:prstGeom prst="rect">
            <a:avLst/>
          </a:prstGeom>
          <a:solidFill>
            <a:srgbClr val="4FA3A3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49926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Recruiting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3657600" y="4946904"/>
            <a:ext cx="7436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a guest, working a tabling shift, getting someone to actually join. Scored generously, since a chapter that does not recruit has no next year.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2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EARNING POINTS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one attendance is actually worth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638044"/>
            <a:ext cx="3017520" cy="1600200"/>
          </a:xfrm>
          <a:prstGeom prst="roundRect">
            <a:avLst>
              <a:gd name="adj" fmla="val 3429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80263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CBCC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371600" y="35341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VALUE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37901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officers set the action 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314096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4958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937760" y="2638044"/>
            <a:ext cx="3017520" cy="1600200"/>
          </a:xfrm>
          <a:prstGeom prst="roundRect">
            <a:avLst>
              <a:gd name="adj" fmla="val 3429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280263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E876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212080" y="35341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CROSS-DIVISION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0" y="37901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went to the other side’s event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0" y="314096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4958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=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8778240" y="2638044"/>
            <a:ext cx="3017520" cy="1600200"/>
          </a:xfrm>
          <a:prstGeom prst="roundRect">
            <a:avLst>
              <a:gd name="adj" fmla="val 3429"/>
            </a:avLst>
          </a:prstGeom>
          <a:solidFill>
            <a:srgbClr val="0E352C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2638044"/>
            <a:ext cx="54864" cy="1600200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17" name="Text 15"/>
          <p:cNvSpPr/>
          <p:nvPr/>
        </p:nvSpPr>
        <p:spPr>
          <a:xfrm>
            <a:off x="9052560" y="280263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052560" y="35341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EARN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052560" y="37901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Credited to you, and to your Org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604004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94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values are set by your officers and are meant to be edited — the catalog should describe what this chapter actually does. Anything you attend outside your own division picks up the cross-division bonus on top.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2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EARNING POINTS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bonuses, and how to trigger them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368296"/>
            <a:ext cx="3326282" cy="2286000"/>
          </a:xfrm>
          <a:prstGeom prst="roundRect">
            <a:avLst>
              <a:gd name="adj" fmla="val 2400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68296"/>
            <a:ext cx="45720" cy="2286000"/>
          </a:xfrm>
          <a:prstGeom prst="rect">
            <a:avLst/>
          </a:prstGeom>
          <a:solidFill>
            <a:srgbClr val="E8765E"/>
          </a:solidFill>
          <a:ln/>
        </p:spPr>
      </p:sp>
      <p:sp>
        <p:nvSpPr>
          <p:cNvPr id="7" name="Text 5"/>
          <p:cNvSpPr/>
          <p:nvPr/>
        </p:nvSpPr>
        <p:spPr>
          <a:xfrm>
            <a:off x="1088136" y="2642616"/>
            <a:ext cx="27044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Cross-division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88136" y="3099816"/>
            <a:ext cx="27044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something on the other side of the chapter. Every time. This bonus exists specifically to stop consulting and case competitions becoming two separate clubs.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2706" y="2368296"/>
            <a:ext cx="3326282" cy="2286000"/>
          </a:xfrm>
          <a:prstGeom prst="roundRect">
            <a:avLst>
              <a:gd name="adj" fmla="val 2400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2706" y="2368296"/>
            <a:ext cx="45720" cy="2286000"/>
          </a:xfrm>
          <a:prstGeom prst="rect">
            <a:avLst/>
          </a:prstGeom>
          <a:solidFill>
            <a:srgbClr val="7AA9DD"/>
          </a:solidFill>
          <a:ln/>
        </p:spPr>
      </p:sp>
      <p:sp>
        <p:nvSpPr>
          <p:cNvPr id="11" name="Text 9"/>
          <p:cNvSpPr/>
          <p:nvPr/>
        </p:nvSpPr>
        <p:spPr>
          <a:xfrm>
            <a:off x="4743602" y="2642616"/>
            <a:ext cx="27044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preference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43602" y="3099816"/>
            <a:ext cx="27044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told the form you had no division preference, you pick up extra on anything you attend. You are being paid to explore.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88173" y="2368296"/>
            <a:ext cx="3326282" cy="2286000"/>
          </a:xfrm>
          <a:prstGeom prst="roundRect">
            <a:avLst>
              <a:gd name="adj" fmla="val 2400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8173" y="2368296"/>
            <a:ext cx="45720" cy="2286000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15" name="Text 13"/>
          <p:cNvSpPr/>
          <p:nvPr/>
        </p:nvSpPr>
        <p:spPr>
          <a:xfrm>
            <a:off x="8399069" y="2642616"/>
            <a:ext cx="27044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team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99069" y="3099816"/>
            <a:ext cx="27044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most of your Org turns up to the same thing, the whole Org scores a bonus on top of the individual points. Bring your Org.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965192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4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one is the only bonus you cannot earn alone, and it is the largest. Dragging four people to a workshop is worth more than going to two on your own.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2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THE LEADERBOARD LOOKS LIKE THAT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Ranked per member, not by total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638044"/>
            <a:ext cx="10637215" cy="3017520"/>
          </a:xfrm>
          <a:prstGeom prst="roundRect">
            <a:avLst>
              <a:gd name="adj" fmla="val 1818"/>
            </a:avLst>
          </a:prstGeom>
          <a:solidFill>
            <a:srgbClr val="0E0E0E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38044"/>
            <a:ext cx="54864" cy="3017520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7" name="Text 5"/>
          <p:cNvSpPr/>
          <p:nvPr/>
        </p:nvSpPr>
        <p:spPr>
          <a:xfrm>
            <a:off x="1380744" y="3113532"/>
            <a:ext cx="9357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 of eleven would beat an Org of nine on raw totals every time, whatever either of them actually did.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380744" y="4302252"/>
            <a:ext cx="93570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Dividing by headcount means the Cup measures participation. A small Org that all turns up beats a large one that half does.</a:t>
            </a:r>
            <a:endParaRPr lang="en-US" sz="2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2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PAGE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you can see about yourself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47672"/>
            <a:ext cx="10637215" cy="1024128"/>
          </a:xfrm>
          <a:prstGeom prst="roundRect">
            <a:avLst>
              <a:gd name="adj" fmla="val 5357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8136" y="21214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points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471416" y="2130552"/>
            <a:ext cx="66321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running total, how many things you have been to, and the split across the six kinds.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3154680"/>
            <a:ext cx="10637215" cy="1024128"/>
          </a:xfrm>
          <a:prstGeom prst="roundRect">
            <a:avLst>
              <a:gd name="adj" fmla="val 5357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8136" y="332841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answers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471416" y="3337560"/>
            <a:ext cx="66321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division, type and leadership interest, read back from the form you filled in.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77240" y="4361688"/>
            <a:ext cx="10637215" cy="1024128"/>
          </a:xfrm>
          <a:prstGeom prst="roundRect">
            <a:avLst>
              <a:gd name="adj" fmla="val 5357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8136" y="45354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recognitions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471416" y="4544568"/>
            <a:ext cx="66321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Awarded by officers for what points do not capture. They do not affect the Cup.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77240" y="5751576"/>
            <a:ext cx="10088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49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member’s points and personality type are theirs, not yours. Officers see them because running the draft and the Cup requires it — other members do not.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2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ACTUALLY ASKED OF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habits, and that is the whole job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38528"/>
            <a:ext cx="10637215" cy="1024128"/>
          </a:xfrm>
          <a:prstGeom prst="roundRect">
            <a:avLst>
              <a:gd name="adj" fmla="val 5357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212848"/>
            <a:ext cx="475488" cy="475488"/>
          </a:xfrm>
          <a:prstGeom prst="ellipse">
            <a:avLst/>
          </a:prstGeom>
          <a:solidFill>
            <a:srgbClr val="0E352C"/>
          </a:solidFill>
          <a:ln w="12700">
            <a:solidFill>
              <a:srgbClr val="1858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2677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EB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46504" y="21122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Turn up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129784" y="2121408"/>
            <a:ext cx="5973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meetings, and to at least some things outside your own division.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77240" y="3145536"/>
            <a:ext cx="10637215" cy="1024128"/>
          </a:xfrm>
          <a:prstGeom prst="roundRect">
            <a:avLst>
              <a:gd name="adj" fmla="val 5357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3419856"/>
            <a:ext cx="475488" cy="475488"/>
          </a:xfrm>
          <a:prstGeom prst="ellipse">
            <a:avLst/>
          </a:prstGeom>
          <a:solidFill>
            <a:srgbClr val="0E352C"/>
          </a:solidFill>
          <a:ln w="12700">
            <a:solidFill>
              <a:srgbClr val="1858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47472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EB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46504" y="33192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 in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129784" y="3328416"/>
            <a:ext cx="5973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sheet at the event. If you are not on it, you did not earn it.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" y="4352544"/>
            <a:ext cx="10637215" cy="1024128"/>
          </a:xfrm>
          <a:prstGeom prst="roundRect">
            <a:avLst>
              <a:gd name="adj" fmla="val 5357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4626864"/>
            <a:ext cx="475488" cy="475488"/>
          </a:xfrm>
          <a:prstGeom prst="ellipse">
            <a:avLst/>
          </a:prstGeom>
          <a:solidFill>
            <a:srgbClr val="0E352C"/>
          </a:solidFill>
          <a:ln w="12700">
            <a:solidFill>
              <a:srgbClr val="1858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681728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EB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46504" y="4526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Bring your Org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129784" y="4535424"/>
            <a:ext cx="5973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full-team bonus is the largest one available and needs other people.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77240" y="5559552"/>
            <a:ext cx="10637215" cy="1024128"/>
          </a:xfrm>
          <a:prstGeom prst="roundRect">
            <a:avLst>
              <a:gd name="adj" fmla="val 5357"/>
            </a:avLst>
          </a:prstGeom>
          <a:solidFill>
            <a:srgbClr val="242424"/>
          </a:solidFill>
          <a:ln w="9525">
            <a:solidFill>
              <a:srgbClr val="3F40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1560" y="5833872"/>
            <a:ext cx="475488" cy="475488"/>
          </a:xfrm>
          <a:prstGeom prst="ellipse">
            <a:avLst/>
          </a:prstGeom>
          <a:solidFill>
            <a:srgbClr val="0E352C"/>
          </a:solidFill>
          <a:ln w="12700">
            <a:solidFill>
              <a:srgbClr val="1858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5888736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EB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46504" y="57332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Check standings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5129784" y="5742432"/>
            <a:ext cx="5973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Weekly. It takes ten seconds and it is the point of the whole thing.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2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OFFICERS ONLY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other side of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051560" cy="32004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38528"/>
            <a:ext cx="36576" cy="768096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6" name="Text 4"/>
          <p:cNvSpPr/>
          <p:nvPr/>
        </p:nvSpPr>
        <p:spPr>
          <a:xfrm>
            <a:off x="1014984" y="1993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2E9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14984" y="22677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 up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880360" y="2048256"/>
            <a:ext cx="84426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divisions and ranks, create the sign-up form, share the site.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834640"/>
            <a:ext cx="36576" cy="768096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10" name="Text 8"/>
          <p:cNvSpPr/>
          <p:nvPr/>
        </p:nvSpPr>
        <p:spPr>
          <a:xfrm>
            <a:off x="1014984" y="2889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2E9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1–2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14984" y="31638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Collect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880360" y="2944368"/>
            <a:ext cx="84426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join and appear on the roster on their own. Chase the ones who have not.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3730752"/>
            <a:ext cx="36576" cy="768096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14" name="Text 12"/>
          <p:cNvSpPr/>
          <p:nvPr/>
        </p:nvSpPr>
        <p:spPr>
          <a:xfrm>
            <a:off x="1014984" y="37856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2E9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14984" y="405993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Draft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880360" y="3840480"/>
            <a:ext cx="84426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it, read the flags, take the Assistant’s swaps, hand-adjust, announce.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4626864"/>
            <a:ext cx="36576" cy="768096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18" name="Text 16"/>
          <p:cNvSpPr/>
          <p:nvPr/>
        </p:nvSpPr>
        <p:spPr>
          <a:xfrm>
            <a:off x="1014984" y="4681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2E9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TERM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14984" y="49560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880360" y="4736592"/>
            <a:ext cx="84426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minutes after every event. Skip three weeks and the standings stop meaning anything.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77240" y="5522976"/>
            <a:ext cx="36576" cy="768096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22" name="Text 20"/>
          <p:cNvSpPr/>
          <p:nvPr/>
        </p:nvSpPr>
        <p:spPr>
          <a:xfrm>
            <a:off x="1014984" y="5577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2E9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14984" y="58521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Hand over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2880360" y="5632704"/>
            <a:ext cx="84426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 save file for next year’s officers, then clear the data for a new semester.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3" name="Shape 1"/>
          <p:cNvSpPr/>
          <p:nvPr/>
        </p:nvSpPr>
        <p:spPr>
          <a:xfrm>
            <a:off x="1247973" y="1481328"/>
            <a:ext cx="539862" cy="0"/>
          </a:xfrm>
          <a:prstGeom prst="line">
            <a:avLst/>
          </a:prstGeom>
          <a:noFill/>
          <a:ln w="27651">
            <a:solidFill>
              <a:srgbClr val="E9EB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17904" y="1211397"/>
            <a:ext cx="0" cy="539862"/>
          </a:xfrm>
          <a:prstGeom prst="line">
            <a:avLst/>
          </a:prstGeom>
          <a:noFill/>
          <a:ln w="27651">
            <a:solidFill>
              <a:srgbClr val="E9EB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7036" y="1290460"/>
            <a:ext cx="381736" cy="381736"/>
          </a:xfrm>
          <a:prstGeom prst="line">
            <a:avLst/>
          </a:prstGeom>
          <a:noFill/>
          <a:ln w="27651">
            <a:solidFill>
              <a:srgbClr val="E9EB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327036" y="1290460"/>
            <a:ext cx="381736" cy="381736"/>
          </a:xfrm>
          <a:prstGeom prst="line">
            <a:avLst/>
          </a:prstGeom>
          <a:noFill/>
          <a:ln w="27651">
            <a:solidFill>
              <a:srgbClr val="E9EB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50020" y="1313444"/>
            <a:ext cx="335768" cy="335768"/>
          </a:xfrm>
          <a:prstGeom prst="ellipse">
            <a:avLst/>
          </a:prstGeom>
          <a:ln w="27651">
            <a:solidFill>
              <a:srgbClr val="E9EB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29898" y="1423392"/>
            <a:ext cx="115873" cy="115873"/>
          </a:xfrm>
          <a:prstGeom prst="ellipse">
            <a:avLst/>
          </a:prstGeom>
          <a:solidFill>
            <a:srgbClr val="E9EBDF"/>
          </a:solidFill>
          <a:ln/>
        </p:spPr>
      </p:sp>
      <p:sp>
        <p:nvSpPr>
          <p:cNvPr id="9" name="Shape 7"/>
          <p:cNvSpPr/>
          <p:nvPr/>
        </p:nvSpPr>
        <p:spPr>
          <a:xfrm>
            <a:off x="1650838" y="1232522"/>
            <a:ext cx="115873" cy="115873"/>
          </a:xfrm>
          <a:prstGeom prst="ellipse">
            <a:avLst/>
          </a:prstGeom>
          <a:solidFill>
            <a:srgbClr val="E9EBDF"/>
          </a:solidFill>
          <a:ln/>
        </p:spPr>
      </p:sp>
      <p:sp>
        <p:nvSpPr>
          <p:cNvPr id="10" name="Shape 8"/>
          <p:cNvSpPr/>
          <p:nvPr/>
        </p:nvSpPr>
        <p:spPr>
          <a:xfrm>
            <a:off x="1459968" y="1153461"/>
            <a:ext cx="115873" cy="115873"/>
          </a:xfrm>
          <a:prstGeom prst="ellipse">
            <a:avLst/>
          </a:prstGeom>
          <a:solidFill>
            <a:srgbClr val="E9EBDF"/>
          </a:solidFill>
          <a:ln/>
        </p:spPr>
      </p:sp>
      <p:sp>
        <p:nvSpPr>
          <p:cNvPr id="11" name="Shape 9"/>
          <p:cNvSpPr/>
          <p:nvPr/>
        </p:nvSpPr>
        <p:spPr>
          <a:xfrm>
            <a:off x="1269098" y="1232522"/>
            <a:ext cx="115873" cy="115873"/>
          </a:xfrm>
          <a:prstGeom prst="ellipse">
            <a:avLst/>
          </a:prstGeom>
          <a:solidFill>
            <a:srgbClr val="E9EBD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90037" y="1423392"/>
            <a:ext cx="115873" cy="115873"/>
          </a:xfrm>
          <a:prstGeom prst="ellipse">
            <a:avLst/>
          </a:prstGeom>
          <a:solidFill>
            <a:srgbClr val="E9EBD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69098" y="1614262"/>
            <a:ext cx="115873" cy="115873"/>
          </a:xfrm>
          <a:prstGeom prst="ellipse">
            <a:avLst/>
          </a:prstGeom>
          <a:solidFill>
            <a:srgbClr val="E9EBDF"/>
          </a:solidFill>
          <a:ln/>
        </p:spPr>
      </p:sp>
      <p:sp>
        <p:nvSpPr>
          <p:cNvPr id="14" name="Shape 12"/>
          <p:cNvSpPr/>
          <p:nvPr/>
        </p:nvSpPr>
        <p:spPr>
          <a:xfrm>
            <a:off x="1459968" y="1693322"/>
            <a:ext cx="115873" cy="115873"/>
          </a:xfrm>
          <a:prstGeom prst="ellipse">
            <a:avLst/>
          </a:prstGeom>
          <a:solidFill>
            <a:srgbClr val="E9EBDF"/>
          </a:solidFill>
          <a:ln/>
        </p:spPr>
      </p:sp>
      <p:sp>
        <p:nvSpPr>
          <p:cNvPr id="15" name="Shape 13"/>
          <p:cNvSpPr/>
          <p:nvPr/>
        </p:nvSpPr>
        <p:spPr>
          <a:xfrm>
            <a:off x="1650838" y="1614262"/>
            <a:ext cx="115873" cy="115873"/>
          </a:xfrm>
          <a:prstGeom prst="ellipse">
            <a:avLst/>
          </a:prstGeom>
          <a:solidFill>
            <a:srgbClr val="E9EBDF"/>
          </a:solidFill>
          <a:ln/>
        </p:spPr>
      </p:sp>
      <p:sp>
        <p:nvSpPr>
          <p:cNvPr id="16" name="Shape 14"/>
          <p:cNvSpPr/>
          <p:nvPr/>
        </p:nvSpPr>
        <p:spPr>
          <a:xfrm>
            <a:off x="1475110" y="1438534"/>
            <a:ext cx="85588" cy="85588"/>
          </a:xfrm>
          <a:prstGeom prst="ellipse">
            <a:avLst/>
          </a:prstGeom>
          <a:solidFill>
            <a:srgbClr val="E9EBDF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2057400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4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HERE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395728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E9EB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org.deanzapbl.com</a:t>
            </a:r>
            <a:endParaRPr lang="en-US" sz="4800" dirty="0"/>
          </a:p>
        </p:txBody>
      </p:sp>
      <p:sp>
        <p:nvSpPr>
          <p:cNvPr id="19" name="Shape 17"/>
          <p:cNvSpPr/>
          <p:nvPr/>
        </p:nvSpPr>
        <p:spPr>
          <a:xfrm>
            <a:off x="1188720" y="3712464"/>
            <a:ext cx="1463040" cy="41148"/>
          </a:xfrm>
          <a:prstGeom prst="rect">
            <a:avLst/>
          </a:prstGeom>
          <a:solidFill>
            <a:srgbClr val="185849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3986784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BC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in, pick De Anza PBL, send the sign-up form. Then find your Org under Teams and see where it stands.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88720" y="5943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949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full written orientation is at /orientation · Questions go to your chapter officers.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 Beta Lambda — Chapter orientation</dc:title>
  <dc:subject>PptxGenJS Presentation</dc:subject>
  <dc:creator>The Org System</dc:creator>
  <cp:lastModifiedBy>The Org System</cp:lastModifiedBy>
  <cp:revision>1</cp:revision>
  <dcterms:created xsi:type="dcterms:W3CDTF">2026-10-13T08:54:48Z</dcterms:created>
  <dcterms:modified xsi:type="dcterms:W3CDTF">2026-10-13T08:54:48Z</dcterms:modified>
</cp:coreProperties>
</file>