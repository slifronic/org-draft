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3" name="Shape 1"/>
          <p:cNvSpPr/>
          <p:nvPr/>
        </p:nvSpPr>
        <p:spPr>
          <a:xfrm>
            <a:off x="1247973" y="1481328"/>
            <a:ext cx="539862" cy="0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17904" y="1211397"/>
            <a:ext cx="0" cy="539862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7036" y="1290460"/>
            <a:ext cx="381736" cy="381736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327036" y="1290460"/>
            <a:ext cx="381736" cy="381736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0020" y="1313444"/>
            <a:ext cx="335768" cy="335768"/>
          </a:xfrm>
          <a:prstGeom prst="ellipse">
            <a:avLst/>
          </a:prstGeom>
          <a:ln w="27651">
            <a:solidFill>
              <a:srgbClr val="E9E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29898" y="142339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9" name="Shape 7"/>
          <p:cNvSpPr/>
          <p:nvPr/>
        </p:nvSpPr>
        <p:spPr>
          <a:xfrm>
            <a:off x="1650838" y="12325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0" name="Shape 8"/>
          <p:cNvSpPr/>
          <p:nvPr/>
        </p:nvSpPr>
        <p:spPr>
          <a:xfrm>
            <a:off x="1459968" y="1153461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1" name="Shape 9"/>
          <p:cNvSpPr/>
          <p:nvPr/>
        </p:nvSpPr>
        <p:spPr>
          <a:xfrm>
            <a:off x="1269098" y="12325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90037" y="142339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69098" y="161426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4" name="Shape 12"/>
          <p:cNvSpPr/>
          <p:nvPr/>
        </p:nvSpPr>
        <p:spPr>
          <a:xfrm>
            <a:off x="1459968" y="16933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5" name="Shape 13"/>
          <p:cNvSpPr/>
          <p:nvPr/>
        </p:nvSpPr>
        <p:spPr>
          <a:xfrm>
            <a:off x="1650838" y="161426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6" name="Shape 14"/>
          <p:cNvSpPr/>
          <p:nvPr/>
        </p:nvSpPr>
        <p:spPr>
          <a:xfrm>
            <a:off x="1475110" y="1438534"/>
            <a:ext cx="85588" cy="85588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2057400"/>
            <a:ext cx="9814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BETA LAMBDA · CHAPTER ORIENTATION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2395728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Org</a:t>
            </a:r>
            <a:endParaRPr lang="en-US" sz="6000" dirty="0"/>
          </a:p>
        </p:txBody>
      </p:sp>
      <p:sp>
        <p:nvSpPr>
          <p:cNvPr id="19" name="Shape 17"/>
          <p:cNvSpPr/>
          <p:nvPr/>
        </p:nvSpPr>
        <p:spPr>
          <a:xfrm>
            <a:off x="1188720" y="3712464"/>
            <a:ext cx="1463040" cy="41148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3986784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been sorted into a team for the year. Here is what that means, and how you earn points for it.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88720" y="5943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org.deanzapbl.com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SHORT VERSION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things are true of you now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706624"/>
            <a:ext cx="45720" cy="27432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7AA9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88136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are in an Org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88136" y="3767328"/>
            <a:ext cx="270449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team of about ten, drawn from across the chapter. It is yours for the year.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32706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32706" y="2706624"/>
            <a:ext cx="45720" cy="27432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2" name="Text 10"/>
          <p:cNvSpPr/>
          <p:nvPr/>
        </p:nvSpPr>
        <p:spPr>
          <a:xfrm>
            <a:off x="4743602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1858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43602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earn points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43602" y="3767328"/>
            <a:ext cx="270449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everything you show up to is worth something, and it is credited to your Org.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088173" y="2706624"/>
            <a:ext cx="3326282" cy="2743200"/>
          </a:xfrm>
          <a:prstGeom prst="roundRect">
            <a:avLst>
              <a:gd name="adj" fmla="val 20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88173" y="2706624"/>
            <a:ext cx="45720" cy="27432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7" name="Text 15"/>
          <p:cNvSpPr/>
          <p:nvPr/>
        </p:nvSpPr>
        <p:spPr>
          <a:xfrm>
            <a:off x="8399069" y="2980944"/>
            <a:ext cx="27044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60" kern="0" dirty="0">
                <a:solidFill>
                  <a:srgbClr val="E876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99069" y="3310128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Org competes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399069" y="3767328"/>
            <a:ext cx="270449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every other Org, all semester, for the Org Cup.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AN ORG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cross-section of the chapter, not a friend group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49424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4984" y="23957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~10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14984" y="307238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MEMBERS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154680" y="2249424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92424" y="23957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92424" y="307238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32120" y="2249424"/>
            <a:ext cx="2103120" cy="1234440"/>
          </a:xfrm>
          <a:prstGeom prst="roundRect">
            <a:avLst>
              <a:gd name="adj" fmla="val 4444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9864" y="2395728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5769864" y="3072384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WAYS IT IS BALANCED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92440" y="2295144"/>
            <a:ext cx="3322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 is a small standing team inside the chapter. You did not pick it and neither did your friends — it was dealt so that every Org looks roughly like the chapter as a whole.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77240" y="3877056"/>
            <a:ext cx="54864" cy="86868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6" name="Text 14"/>
          <p:cNvSpPr/>
          <p:nvPr/>
        </p:nvSpPr>
        <p:spPr>
          <a:xfrm>
            <a:off x="1088136" y="3895344"/>
            <a:ext cx="100885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That is the point. You end the year knowing ten people you would not otherwise have met, across both divisions and both year groups.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YOU DID NOT CHOOSE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the draft balanced when it placed you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68296"/>
            <a:ext cx="45720" cy="22860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Size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88136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Org comes out within one member of every other, so no team is carrying a numbers disadvantage in the Cup.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2706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2706" y="2368296"/>
            <a:ext cx="45720" cy="22860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1" name="Text 9"/>
          <p:cNvSpPr/>
          <p:nvPr/>
        </p:nvSpPr>
        <p:spPr>
          <a:xfrm>
            <a:off x="4743602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Division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43602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Consulting and case competition people are spread across all the Orgs rather than clustering into two camps.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88173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8173" y="2368296"/>
            <a:ext cx="45720" cy="2286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5" name="Text 13"/>
          <p:cNvSpPr/>
          <p:nvPr/>
        </p:nvSpPr>
        <p:spPr>
          <a:xfrm>
            <a:off x="8399069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Tenure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99069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First-years and returning members are mixed, so no Org is all new and none is a closed circle of veterans.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fourth axis spreads members who said they are interested in leading, so every Org has somebody willing to organise it. If the chapter uses personality types, a fifth keeps any one Org from being nine of the same person.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steps, once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59152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633472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68833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46504" y="25328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 in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129784" y="2542032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is the normal door. The page receives your name, email and picture — never your password.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566160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3840480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895344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46504" y="373989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Join the chapter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129784" y="3749040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it from the list and enter the join code your officers gave you.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773168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5047488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10235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46504" y="49469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Fill in the form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129784" y="4956048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in the chapter, which division you lean toward, and whether you want to lead. Two minutes.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THE FORM IS NOT OPTIONAL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blank answer does not make you neutral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38044"/>
            <a:ext cx="10637215" cy="3017520"/>
          </a:xfrm>
          <a:prstGeom prst="roundRect">
            <a:avLst>
              <a:gd name="adj" fmla="val 1818"/>
            </a:avLst>
          </a:prstGeom>
          <a:solidFill>
            <a:srgbClr val="0E0E0E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38044"/>
            <a:ext cx="54864" cy="301752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7" name="Text 5"/>
          <p:cNvSpPr/>
          <p:nvPr/>
        </p:nvSpPr>
        <p:spPr>
          <a:xfrm>
            <a:off x="1380744" y="3113532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axis the draft balances comes from your form answers. Leave one blank and the sorter has nothing to work with.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380744" y="4302252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 are not neutral — you are a coin flip, and so is the Org that ends up with you.</a:t>
            </a:r>
            <a:endParaRPr lang="en-US" sz="2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ORG CUP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the competition is put together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50008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50008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5420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SEASON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154680" y="2496312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fourteen weeks. Every Org starts at zero in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77240" y="3063240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063240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1" name="Text 9"/>
          <p:cNvSpPr/>
          <p:nvPr/>
        </p:nvSpPr>
        <p:spPr>
          <a:xfrm>
            <a:off x="1088136" y="32552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UNIT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154680" y="3209544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member, at one thing, on one date. That is what gets logged.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77240" y="3776472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776472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5" name="Text 13"/>
          <p:cNvSpPr/>
          <p:nvPr/>
        </p:nvSpPr>
        <p:spPr>
          <a:xfrm>
            <a:off x="1088136" y="39684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TOTAL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54680" y="3922776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point any member earns is credited to their Org, plus whole-team bonuses.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4489704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489704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9" name="Text 17"/>
          <p:cNvSpPr/>
          <p:nvPr/>
        </p:nvSpPr>
        <p:spPr>
          <a:xfrm>
            <a:off x="1088136" y="46817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RANKING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154680" y="4636008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Orgs are ranked on points per member, not on raw totals.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77240" y="5202936"/>
            <a:ext cx="10637215" cy="603504"/>
          </a:xfrm>
          <a:prstGeom prst="roundRect">
            <a:avLst>
              <a:gd name="adj" fmla="val 9091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5202936"/>
            <a:ext cx="45720" cy="6035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23" name="Text 21"/>
          <p:cNvSpPr/>
          <p:nvPr/>
        </p:nvSpPr>
        <p:spPr>
          <a:xfrm>
            <a:off x="1088136" y="53949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WINNER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154680" y="5349240"/>
            <a:ext cx="79397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is top of that table when the season ends.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 · 1 OF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Six kinds of thing are worth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58568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58568"/>
            <a:ext cx="54864" cy="1115568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" y="2569464"/>
            <a:ext cx="182880" cy="18288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468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Meetings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657600" y="2423160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chapter meetings, division workshops, study and prep sessions. Individually the smallest amount — but they happen most weeks, so over a semester they are the largest share of most members’ totals.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520440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20440"/>
            <a:ext cx="54864" cy="1115568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6424" y="3831336"/>
            <a:ext cx="182880" cy="18288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37307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Competition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3657600" y="3685032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competitions, conference events, state and national qualifiers. The highest per-event value in the catalog, because it is the chapter competing in public. Usually scored twice: once for entering, again for placing.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782312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782312"/>
            <a:ext cx="54864" cy="1115568"/>
          </a:xfrm>
          <a:prstGeom prst="rect">
            <a:avLst/>
          </a:prstGeom>
          <a:solidFill>
            <a:srgbClr val="4FAE8C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6424" y="5093208"/>
            <a:ext cx="182880" cy="182880"/>
          </a:xfrm>
          <a:prstGeom prst="rect">
            <a:avLst/>
          </a:prstGeom>
          <a:solidFill>
            <a:srgbClr val="4FAE8C"/>
          </a:solidFill>
          <a:ln/>
        </p:spPr>
      </p:sp>
      <p:sp>
        <p:nvSpPr>
          <p:cNvPr id="18" name="Text 16"/>
          <p:cNvSpPr/>
          <p:nvPr/>
        </p:nvSpPr>
        <p:spPr>
          <a:xfrm>
            <a:off x="1417320" y="499262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Service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3657600" y="4946904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service, philanthropy, volunteering hours. Often logged by the hour rather than the event, so a long Saturday counts more than a short one.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 · 2 OF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And the three that are easy to forget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258568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58568"/>
            <a:ext cx="54864" cy="1115568"/>
          </a:xfrm>
          <a:prstGeom prst="rect">
            <a:avLst/>
          </a:prstGeom>
          <a:solidFill>
            <a:srgbClr val="C9A24A"/>
          </a:solidFill>
          <a:ln/>
        </p:spPr>
      </p:sp>
      <p:sp>
        <p:nvSpPr>
          <p:cNvPr id="7" name="Shape 5"/>
          <p:cNvSpPr/>
          <p:nvPr/>
        </p:nvSpPr>
        <p:spPr>
          <a:xfrm>
            <a:off x="1106424" y="2569464"/>
            <a:ext cx="182880" cy="182880"/>
          </a:xfrm>
          <a:prstGeom prst="rect">
            <a:avLst/>
          </a:prstGeom>
          <a:solidFill>
            <a:srgbClr val="C9A24A"/>
          </a:solidFill>
          <a:ln/>
        </p:spPr>
      </p:sp>
      <p:sp>
        <p:nvSpPr>
          <p:cNvPr id="8" name="Text 6"/>
          <p:cNvSpPr/>
          <p:nvPr/>
        </p:nvSpPr>
        <p:spPr>
          <a:xfrm>
            <a:off x="1417320" y="246888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Social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3657600" y="2423160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Mixers, banquets, retreats, Org socials. Deliberately worth less than competition — but these are what turn ten people who were assigned to each other into a team that shows up for each other.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520440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3520440"/>
            <a:ext cx="54864" cy="1115568"/>
          </a:xfrm>
          <a:prstGeom prst="rect">
            <a:avLst/>
          </a:prstGeom>
          <a:solidFill>
            <a:srgbClr val="A98BD0"/>
          </a:solidFill>
          <a:ln/>
        </p:spPr>
      </p:sp>
      <p:sp>
        <p:nvSpPr>
          <p:cNvPr id="12" name="Shape 10"/>
          <p:cNvSpPr/>
          <p:nvPr/>
        </p:nvSpPr>
        <p:spPr>
          <a:xfrm>
            <a:off x="1106424" y="3831336"/>
            <a:ext cx="182880" cy="182880"/>
          </a:xfrm>
          <a:prstGeom prst="rect">
            <a:avLst/>
          </a:prstGeom>
          <a:solidFill>
            <a:srgbClr val="A98BD0"/>
          </a:solidFill>
          <a:ln/>
        </p:spPr>
      </p:sp>
      <p:sp>
        <p:nvSpPr>
          <p:cNvPr id="13" name="Text 11"/>
          <p:cNvSpPr/>
          <p:nvPr/>
        </p:nvSpPr>
        <p:spPr>
          <a:xfrm>
            <a:off x="1417320" y="37307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Leadership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3657600" y="3685032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a workshop, leading a session, holding a role, mentoring a first-year. Worth a lot per instance because few people do it. This is the category most within your control.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782312"/>
            <a:ext cx="10637215" cy="1115568"/>
          </a:xfrm>
          <a:prstGeom prst="roundRect">
            <a:avLst>
              <a:gd name="adj" fmla="val 4918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4782312"/>
            <a:ext cx="54864" cy="1115568"/>
          </a:xfrm>
          <a:prstGeom prst="rect">
            <a:avLst/>
          </a:prstGeom>
          <a:solidFill>
            <a:srgbClr val="4FA3A3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6424" y="5093208"/>
            <a:ext cx="182880" cy="182880"/>
          </a:xfrm>
          <a:prstGeom prst="rect">
            <a:avLst/>
          </a:prstGeom>
          <a:solidFill>
            <a:srgbClr val="4FA3A3"/>
          </a:solidFill>
          <a:ln/>
        </p:spPr>
      </p:sp>
      <p:sp>
        <p:nvSpPr>
          <p:cNvPr id="18" name="Text 16"/>
          <p:cNvSpPr/>
          <p:nvPr/>
        </p:nvSpPr>
        <p:spPr>
          <a:xfrm>
            <a:off x="1417320" y="499262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Recruiting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3657600" y="4946904"/>
            <a:ext cx="74368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Bringing a guest, working a tabling shift, getting someone to actually join. Scored generously, since a chapter that does not recruit has no next year.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one attendance is actually worth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638044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80263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CBCCC4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1371600" y="35341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 VALUE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71600" y="379018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your officers set the action at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314096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4958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937760" y="2638044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12080" y="280263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E8765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+2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5212080" y="35341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CROSS-DIVISION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212080" y="379018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went to the other side’s event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55280" y="314096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94958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=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8778240" y="2638044"/>
            <a:ext cx="3017520" cy="1600200"/>
          </a:xfrm>
          <a:prstGeom prst="roundRect">
            <a:avLst>
              <a:gd name="adj" fmla="val 3429"/>
            </a:avLst>
          </a:prstGeom>
          <a:solidFill>
            <a:srgbClr val="0E352C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78240" y="2638044"/>
            <a:ext cx="54864" cy="16002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7" name="Text 15"/>
          <p:cNvSpPr/>
          <p:nvPr/>
        </p:nvSpPr>
        <p:spPr>
          <a:xfrm>
            <a:off x="9052560" y="2802636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9052560" y="353415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EARN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052560" y="379018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Credited to you, and to your Org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7240" y="4604004"/>
            <a:ext cx="100885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5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values are set by your officers and are meant to be edited — the catalog should describe what this chapter actually does. Anything you attend outside your own division picks up the cross-division bonus on top.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EARNING POINTS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Three bonuses, and how to trigger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68296"/>
            <a:ext cx="45720" cy="2286000"/>
          </a:xfrm>
          <a:prstGeom prst="rect">
            <a:avLst/>
          </a:prstGeom>
          <a:solidFill>
            <a:srgbClr val="E8765E"/>
          </a:solidFill>
          <a:ln/>
        </p:spPr>
      </p:sp>
      <p:sp>
        <p:nvSpPr>
          <p:cNvPr id="7" name="Text 5"/>
          <p:cNvSpPr/>
          <p:nvPr/>
        </p:nvSpPr>
        <p:spPr>
          <a:xfrm>
            <a:off x="1088136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Cross-division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88136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something on the other side of the chapter. Every time. This bonus exists specifically to stop consulting and case competitions becoming two separate clubs.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432706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2706" y="2368296"/>
            <a:ext cx="45720" cy="2286000"/>
          </a:xfrm>
          <a:prstGeom prst="rect">
            <a:avLst/>
          </a:prstGeom>
          <a:solidFill>
            <a:srgbClr val="7AA9DD"/>
          </a:solidFill>
          <a:ln/>
        </p:spPr>
      </p:sp>
      <p:sp>
        <p:nvSpPr>
          <p:cNvPr id="11" name="Text 9"/>
          <p:cNvSpPr/>
          <p:nvPr/>
        </p:nvSpPr>
        <p:spPr>
          <a:xfrm>
            <a:off x="4743602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preference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43602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told the form you had no division preference, you pick up extra on anything you attend. You are being paid to explore.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088173" y="2368296"/>
            <a:ext cx="3326282" cy="2286000"/>
          </a:xfrm>
          <a:prstGeom prst="roundRect">
            <a:avLst>
              <a:gd name="adj" fmla="val 2400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88173" y="2368296"/>
            <a:ext cx="45720" cy="2286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5" name="Text 13"/>
          <p:cNvSpPr/>
          <p:nvPr/>
        </p:nvSpPr>
        <p:spPr>
          <a:xfrm>
            <a:off x="8399069" y="2642616"/>
            <a:ext cx="27044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Full team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99069" y="3099816"/>
            <a:ext cx="270449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most of your Org turns up to the same thing, the whole Org scores a bonus on top of the individual points. Bring your Org.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0885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50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third one is the only bonus you cannot earn alone, and it is the largest. Dragging four people to a workshop is worth more than going to two on your own.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THE LEADERBOARD LOOKS LIKE THAT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Ranked per member, not by total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638044"/>
            <a:ext cx="10637215" cy="3017520"/>
          </a:xfrm>
          <a:prstGeom prst="roundRect">
            <a:avLst>
              <a:gd name="adj" fmla="val 1818"/>
            </a:avLst>
          </a:prstGeom>
          <a:solidFill>
            <a:srgbClr val="0E0E0E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38044"/>
            <a:ext cx="54864" cy="301752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7" name="Text 5"/>
          <p:cNvSpPr/>
          <p:nvPr/>
        </p:nvSpPr>
        <p:spPr>
          <a:xfrm>
            <a:off x="1380744" y="3113532"/>
            <a:ext cx="93570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 of eleven would beat an Org of nine on raw totals every time, whatever either of them actually did.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380744" y="4302252"/>
            <a:ext cx="93570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Dividing by headcount means the Cup measures participation. A small Org that all turns up beats a large one that half does.</a:t>
            </a:r>
            <a:endParaRPr lang="en-US" sz="2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PAGE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you can see about yourself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47672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88136" y="21214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points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4471416" y="2130552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running total, how many things you have been to, and the split across the six kinds.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77240" y="3154680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88136" y="33284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answers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471416" y="3337560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Year, division, type and leadership interest, read back from the form you filled in.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777240" y="4361688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8136" y="453542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recognitions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471416" y="4544568"/>
            <a:ext cx="663214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Awarded by officers for what points do not capture. They do not affect the Cup.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77240" y="5751576"/>
            <a:ext cx="10088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9495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member’s points and personality type are theirs, not yours. Officers see them because running the draft and the Cup requires it — other members do not.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IS ACTUALLY ASKED OF YOU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Four habits, and that is the whole job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38528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212848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267712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746504" y="211226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Turn up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129784" y="2121408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meetings, and to at least some things outside your own division.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77240" y="3145536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3419856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3474720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46504" y="33192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Sign in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129784" y="3328416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sheet at the event. If you are not on it, you did not earn it.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" y="4352544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51560" y="4626864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681728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46504" y="45262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Bring your Org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129784" y="4535424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full-team bonus is the largest one available and needs other people.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777240" y="5559552"/>
            <a:ext cx="10637215" cy="1024128"/>
          </a:xfrm>
          <a:prstGeom prst="roundRect">
            <a:avLst>
              <a:gd name="adj" fmla="val 5357"/>
            </a:avLst>
          </a:prstGeom>
          <a:solidFill>
            <a:srgbClr val="242424"/>
          </a:solidFill>
          <a:ln w="9525">
            <a:solidFill>
              <a:srgbClr val="3F40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51560" y="5833872"/>
            <a:ext cx="475488" cy="475488"/>
          </a:xfrm>
          <a:prstGeom prst="ellipse">
            <a:avLst/>
          </a:prstGeom>
          <a:solidFill>
            <a:srgbClr val="0E352C"/>
          </a:solidFill>
          <a:ln w="12700">
            <a:solidFill>
              <a:srgbClr val="1858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51560" y="5888736"/>
            <a:ext cx="475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9EBD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746504" y="573328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Check standings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5129784" y="5742432"/>
            <a:ext cx="5973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Weekly. It takes ten seconds and it is the point of the whole thing.</a:t>
            </a:r>
            <a:endParaRPr lang="en-US" sz="14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66928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OFFICERS ONLY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3721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other side of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938528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6" name="Text 4"/>
          <p:cNvSpPr/>
          <p:nvPr/>
        </p:nvSpPr>
        <p:spPr>
          <a:xfrm>
            <a:off x="1014984" y="199339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14984" y="22677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up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880360" y="2048256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divisions and ranks, create the sign-up form, hand out the join code.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2834640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0" name="Text 8"/>
          <p:cNvSpPr/>
          <p:nvPr/>
        </p:nvSpPr>
        <p:spPr>
          <a:xfrm>
            <a:off x="1014984" y="28895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WEEKS 1–2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14984" y="3163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Collect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80360" y="2944368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join and appear on the roster on their own. Chase the ones who have not.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3730752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4" name="Text 12"/>
          <p:cNvSpPr/>
          <p:nvPr/>
        </p:nvSpPr>
        <p:spPr>
          <a:xfrm>
            <a:off x="1014984" y="37856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 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014984" y="405993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Draft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2880360" y="3840480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it, read the flags, take the Assistant’s swaps, hand-adjust, announce.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4626864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18" name="Text 16"/>
          <p:cNvSpPr/>
          <p:nvPr/>
        </p:nvSpPr>
        <p:spPr>
          <a:xfrm>
            <a:off x="1014984" y="46817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TERM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14984" y="495604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Log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880360" y="4736592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 after every event. Skip three weeks and the standings stop meaning anything.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7240" y="5522976"/>
            <a:ext cx="36576" cy="768096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22" name="Text 20"/>
          <p:cNvSpPr/>
          <p:nvPr/>
        </p:nvSpPr>
        <p:spPr>
          <a:xfrm>
            <a:off x="1014984" y="5577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40" kern="0" dirty="0">
                <a:solidFill>
                  <a:srgbClr val="2E91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14984" y="58521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Hand over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880360" y="5632704"/>
            <a:ext cx="844265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 save file for next year’s officers, then clear the data for a new semester.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515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3" name="Shape 1"/>
          <p:cNvSpPr/>
          <p:nvPr/>
        </p:nvSpPr>
        <p:spPr>
          <a:xfrm>
            <a:off x="1247973" y="1481328"/>
            <a:ext cx="539862" cy="0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17904" y="1211397"/>
            <a:ext cx="0" cy="539862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27036" y="1290460"/>
            <a:ext cx="381736" cy="381736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327036" y="1290460"/>
            <a:ext cx="381736" cy="381736"/>
          </a:xfrm>
          <a:prstGeom prst="line">
            <a:avLst/>
          </a:prstGeom>
          <a:noFill/>
          <a:ln w="27651">
            <a:solidFill>
              <a:srgbClr val="E9EBD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50020" y="1313444"/>
            <a:ext cx="335768" cy="335768"/>
          </a:xfrm>
          <a:prstGeom prst="ellipse">
            <a:avLst/>
          </a:prstGeom>
          <a:ln w="27651">
            <a:solidFill>
              <a:srgbClr val="E9EBD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29898" y="142339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9" name="Shape 7"/>
          <p:cNvSpPr/>
          <p:nvPr/>
        </p:nvSpPr>
        <p:spPr>
          <a:xfrm>
            <a:off x="1650838" y="12325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0" name="Shape 8"/>
          <p:cNvSpPr/>
          <p:nvPr/>
        </p:nvSpPr>
        <p:spPr>
          <a:xfrm>
            <a:off x="1459968" y="1153461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1" name="Shape 9"/>
          <p:cNvSpPr/>
          <p:nvPr/>
        </p:nvSpPr>
        <p:spPr>
          <a:xfrm>
            <a:off x="1269098" y="12325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90037" y="142339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69098" y="161426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4" name="Shape 12"/>
          <p:cNvSpPr/>
          <p:nvPr/>
        </p:nvSpPr>
        <p:spPr>
          <a:xfrm>
            <a:off x="1459968" y="169332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5" name="Shape 13"/>
          <p:cNvSpPr/>
          <p:nvPr/>
        </p:nvSpPr>
        <p:spPr>
          <a:xfrm>
            <a:off x="1650838" y="1614262"/>
            <a:ext cx="115873" cy="115873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6" name="Shape 14"/>
          <p:cNvSpPr/>
          <p:nvPr/>
        </p:nvSpPr>
        <p:spPr>
          <a:xfrm>
            <a:off x="1475110" y="1438534"/>
            <a:ext cx="85588" cy="85588"/>
          </a:xfrm>
          <a:prstGeom prst="ellipse">
            <a:avLst/>
          </a:prstGeom>
          <a:solidFill>
            <a:srgbClr val="E9EBDF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2057400"/>
            <a:ext cx="9814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2395728"/>
            <a:ext cx="98142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dirty="0">
                <a:solidFill>
                  <a:srgbClr val="E9EBD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org.deanzapbl.com</a:t>
            </a:r>
            <a:endParaRPr lang="en-US" sz="4800" dirty="0"/>
          </a:p>
        </p:txBody>
      </p:sp>
      <p:sp>
        <p:nvSpPr>
          <p:cNvPr id="19" name="Shape 17"/>
          <p:cNvSpPr/>
          <p:nvPr/>
        </p:nvSpPr>
        <p:spPr>
          <a:xfrm>
            <a:off x="1188720" y="3712464"/>
            <a:ext cx="1463040" cy="41148"/>
          </a:xfrm>
          <a:prstGeom prst="rect">
            <a:avLst/>
          </a:prstGeom>
          <a:solidFill>
            <a:srgbClr val="185849"/>
          </a:solidFill>
          <a:ln/>
        </p:spPr>
      </p:sp>
      <p:sp>
        <p:nvSpPr>
          <p:cNvPr id="20" name="Text 18"/>
          <p:cNvSpPr/>
          <p:nvPr/>
        </p:nvSpPr>
        <p:spPr>
          <a:xfrm>
            <a:off x="1188720" y="3986784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C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in, join with the code, send the sign-up form. Then find your Org under Teams and see where it stands.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188720" y="59436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9495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full written orientation is at /orientation · Questions go to your chapter officers.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 Beta Lambda — Chapter orientation</dc:title>
  <dc:subject>PptxGenJS Presentation</dc:subject>
  <dc:creator>The Org System</dc:creator>
  <cp:lastModifiedBy>The Org System</cp:lastModifiedBy>
  <cp:revision>1</cp:revision>
  <dcterms:created xsi:type="dcterms:W3CDTF">2026-10-13T09:43:50Z</dcterms:created>
  <dcterms:modified xsi:type="dcterms:W3CDTF">2026-10-13T09:43:50Z</dcterms:modified>
</cp:coreProperties>
</file>