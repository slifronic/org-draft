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057400"/>
            <a:ext cx="9814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BETA LAMBDA · CHAPTER ORIENTATION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88720" y="2395728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Org System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1188720" y="3712464"/>
            <a:ext cx="1463040" cy="41148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3986784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chapter drafts its teams, tracks who shows up, and runs the Org Cup.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5943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org-draft.vercel.app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Nobody can hold a hundred people in their head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615184"/>
            <a:ext cx="3326282" cy="1691640"/>
          </a:xfrm>
          <a:prstGeom prst="roundRect">
            <a:avLst>
              <a:gd name="adj" fmla="val 3243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" y="2834640"/>
            <a:ext cx="27044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088136" y="3749040"/>
            <a:ext cx="2704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MEMBERS IN THE CHAPTER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32706" y="2615184"/>
            <a:ext cx="3326282" cy="1691640"/>
          </a:xfrm>
          <a:prstGeom prst="roundRect">
            <a:avLst>
              <a:gd name="adj" fmla="val 3243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43602" y="2834640"/>
            <a:ext cx="27044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CBCCC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743602" y="3749040"/>
            <a:ext cx="2704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ORGS COMPETING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088173" y="2615184"/>
            <a:ext cx="3326282" cy="1691640"/>
          </a:xfrm>
          <a:prstGeom prst="roundRect">
            <a:avLst>
              <a:gd name="adj" fmla="val 3243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99069" y="2834640"/>
            <a:ext cx="27044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CBCCC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399069" y="3749040"/>
            <a:ext cx="27044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WEEKS IN A SEASON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77240" y="4626864"/>
            <a:ext cx="9357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new, who competes, who has turned up to nothing since September. This page answers that without a spreadsheet nobody wants to maintain.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things, and everything else serves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706624"/>
            <a:ext cx="3326282" cy="2743200"/>
          </a:xfrm>
          <a:prstGeom prst="roundRect">
            <a:avLst>
              <a:gd name="adj" fmla="val 20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706624"/>
            <a:ext cx="45720" cy="274320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980944"/>
            <a:ext cx="2704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7AA9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88136" y="3310128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Drafts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088136" y="3785616"/>
            <a:ext cx="270449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Sorts the chapter into balanced Orgs instead of letting teams form by friend group.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32706" y="2706624"/>
            <a:ext cx="3326282" cy="2743200"/>
          </a:xfrm>
          <a:prstGeom prst="roundRect">
            <a:avLst>
              <a:gd name="adj" fmla="val 20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2706" y="2706624"/>
            <a:ext cx="45720" cy="27432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2" name="Text 10"/>
          <p:cNvSpPr/>
          <p:nvPr/>
        </p:nvSpPr>
        <p:spPr>
          <a:xfrm>
            <a:off x="4743602" y="2980944"/>
            <a:ext cx="2704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1858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43602" y="3310128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Tracks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743602" y="3785616"/>
            <a:ext cx="270449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attendance and participation, so showing up is visible and counts.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088173" y="2706624"/>
            <a:ext cx="3326282" cy="2743200"/>
          </a:xfrm>
          <a:prstGeom prst="roundRect">
            <a:avLst>
              <a:gd name="adj" fmla="val 20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88173" y="2706624"/>
            <a:ext cx="45720" cy="274320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7" name="Text 15"/>
          <p:cNvSpPr/>
          <p:nvPr/>
        </p:nvSpPr>
        <p:spPr>
          <a:xfrm>
            <a:off x="8399069" y="2980944"/>
            <a:ext cx="2704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E87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99069" y="3310128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Competes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8399069" y="3785616"/>
            <a:ext cx="270449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Org Cup — the season-long contest that makes the first two matter.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steps, once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59152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633472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68833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46504" y="25328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 in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129784" y="2542032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is the normal door. The page receives your name, email and picture — never your password. Officers can issue a username and password instead.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3566160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3840480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895344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46504" y="373989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Join your chapter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129784" y="3749040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it from the list and enter the join code. Officers hand that out the way you would a door code.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773168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5047488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10235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46504" y="49469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Fill in the form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129784" y="4956048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people skip, and the part that matters. The draft cannot place you sensibly without it.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THE FORM IS NOT OPTIONAL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blank answer does not make you neutral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638044"/>
            <a:ext cx="10637215" cy="3017520"/>
          </a:xfrm>
          <a:prstGeom prst="roundRect">
            <a:avLst>
              <a:gd name="adj" fmla="val 1818"/>
            </a:avLst>
          </a:prstGeom>
          <a:solidFill>
            <a:srgbClr val="0E0E0E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38044"/>
            <a:ext cx="54864" cy="301752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7" name="Text 5"/>
          <p:cNvSpPr/>
          <p:nvPr/>
        </p:nvSpPr>
        <p:spPr>
          <a:xfrm>
            <a:off x="1380744" y="3113532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 balances four things at once: team size, which division you lean toward, how long you have been in the chapter, and whether you are interested in leading.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380744" y="4302252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one of those comes from the form. Leave it blank and you are not neutral — you are a coin flip.</a:t>
            </a:r>
            <a:endParaRPr lang="en-US" sz="2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four roles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09394"/>
          <a:ext cx="1063721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  <a:gridCol w="1463040"/>
                <a:gridCol w="1493215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spc="140" kern="0" dirty="0">
                          <a:solidFill>
                            <a:srgbClr val="94958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CAN THEY…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spc="140" kern="0" dirty="0">
                          <a:solidFill>
                            <a:srgbClr val="94958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MEMBER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spc="140" kern="0" dirty="0">
                          <a:solidFill>
                            <a:srgbClr val="94958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ORG LEAD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spc="140" kern="0" dirty="0">
                          <a:solidFill>
                            <a:srgbClr val="94958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ADMIN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spc="140" kern="0" dirty="0">
                          <a:solidFill>
                            <a:srgbClr val="94958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MASTER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2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E9EBD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standings and their own Org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E9EBD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their own points and 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E9EBD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another member's points or 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F4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F4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E9EBD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Rename their own Org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F4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E9EBD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the draft, log attendance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F4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F4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E9EBD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private notes on members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F4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F4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E9EBD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accounts, edit the form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F4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F4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E9EBD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chapters, grant roles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F4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F4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F4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4FAE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F4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5514"/>
            <a:ext cx="10088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are checked on the server every time anything is saved. Hiding a button is not what keeps things safe.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TABS · 1 OF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Where a semester happens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523744"/>
            <a:ext cx="3362858" cy="1417320"/>
          </a:xfrm>
          <a:prstGeom prst="roundRect">
            <a:avLst>
              <a:gd name="adj" fmla="val 387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724912"/>
            <a:ext cx="17718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Intake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33090" y="2761488"/>
            <a:ext cx="932688" cy="274320"/>
          </a:xfrm>
          <a:prstGeom prst="roundRect">
            <a:avLst>
              <a:gd name="adj" fmla="val 13333"/>
            </a:avLst>
          </a:prstGeom>
          <a:solidFill>
            <a:srgbClr val="151515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33090" y="2802636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OFFICERS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51560" y="3182112"/>
            <a:ext cx="28142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chapter’s vocabulary, then load the roster.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414418" y="2523744"/>
            <a:ext cx="3362858" cy="1417320"/>
          </a:xfrm>
          <a:prstGeom prst="roundRect">
            <a:avLst>
              <a:gd name="adj" fmla="val 387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88738" y="2724912"/>
            <a:ext cx="17718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Roster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570269" y="2761488"/>
            <a:ext cx="932688" cy="274320"/>
          </a:xfrm>
          <a:prstGeom prst="roundRect">
            <a:avLst>
              <a:gd name="adj" fmla="val 13333"/>
            </a:avLst>
          </a:prstGeom>
          <a:solidFill>
            <a:srgbClr val="151515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0269" y="2802636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OFFICERS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688738" y="3182112"/>
            <a:ext cx="28142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with an account. Click anyone to see their card.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51597" y="2523744"/>
            <a:ext cx="3362858" cy="1417320"/>
          </a:xfrm>
          <a:prstGeom prst="roundRect">
            <a:avLst>
              <a:gd name="adj" fmla="val 387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5917" y="2724912"/>
            <a:ext cx="17718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Draft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0207447" y="2761488"/>
            <a:ext cx="932688" cy="274320"/>
          </a:xfrm>
          <a:prstGeom prst="roundRect">
            <a:avLst>
              <a:gd name="adj" fmla="val 13333"/>
            </a:avLst>
          </a:prstGeom>
          <a:solidFill>
            <a:srgbClr val="0E352C"/>
          </a:solidFill>
          <a:ln w="9525">
            <a:solidFill>
              <a:srgbClr val="18584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07447" y="2802636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EVERYONE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325917" y="3182112"/>
            <a:ext cx="28142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Orgs as cards. Officers run it; members see the teams.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77240" y="4215384"/>
            <a:ext cx="3362858" cy="1417320"/>
          </a:xfrm>
          <a:prstGeom prst="roundRect">
            <a:avLst>
              <a:gd name="adj" fmla="val 387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4416552"/>
            <a:ext cx="17718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Teams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2933090" y="4453128"/>
            <a:ext cx="932688" cy="274320"/>
          </a:xfrm>
          <a:prstGeom prst="roundRect">
            <a:avLst>
              <a:gd name="adj" fmla="val 13333"/>
            </a:avLst>
          </a:prstGeom>
          <a:solidFill>
            <a:srgbClr val="0E352C"/>
          </a:solidFill>
          <a:ln w="9525">
            <a:solidFill>
              <a:srgbClr val="18584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33090" y="4494276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EVERYONE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51560" y="4873752"/>
            <a:ext cx="28142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Org in depth — roster, split, type mix, standing.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4414418" y="4215384"/>
            <a:ext cx="3362858" cy="1417320"/>
          </a:xfrm>
          <a:prstGeom prst="roundRect">
            <a:avLst>
              <a:gd name="adj" fmla="val 387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88738" y="4416552"/>
            <a:ext cx="17718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Attendance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570269" y="4453128"/>
            <a:ext cx="932688" cy="274320"/>
          </a:xfrm>
          <a:prstGeom prst="roundRect">
            <a:avLst>
              <a:gd name="adj" fmla="val 13333"/>
            </a:avLst>
          </a:prstGeom>
          <a:solidFill>
            <a:srgbClr val="151515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70269" y="4494276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OFFICERS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688738" y="4873752"/>
            <a:ext cx="28142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event, check who came, log it.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051597" y="4215384"/>
            <a:ext cx="3362858" cy="1417320"/>
          </a:xfrm>
          <a:prstGeom prst="roundRect">
            <a:avLst>
              <a:gd name="adj" fmla="val 387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25917" y="4416552"/>
            <a:ext cx="17718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Org Cup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10207447" y="4453128"/>
            <a:ext cx="932688" cy="274320"/>
          </a:xfrm>
          <a:prstGeom prst="roundRect">
            <a:avLst>
              <a:gd name="adj" fmla="val 13333"/>
            </a:avLst>
          </a:prstGeom>
          <a:solidFill>
            <a:srgbClr val="0E352C"/>
          </a:solidFill>
          <a:ln w="9525">
            <a:solidFill>
              <a:srgbClr val="18584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207447" y="4494276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EVERYONE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325917" y="4873752"/>
            <a:ext cx="28142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Standings on arrival; the scoring catalog behind it.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TABS · 2 OF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And the rest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523744"/>
            <a:ext cx="3362858" cy="1417320"/>
          </a:xfrm>
          <a:prstGeom prst="roundRect">
            <a:avLst>
              <a:gd name="adj" fmla="val 387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724912"/>
            <a:ext cx="17718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Assistant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33090" y="2761488"/>
            <a:ext cx="932688" cy="274320"/>
          </a:xfrm>
          <a:prstGeom prst="roundRect">
            <a:avLst>
              <a:gd name="adj" fmla="val 13333"/>
            </a:avLst>
          </a:prstGeom>
          <a:solidFill>
            <a:srgbClr val="151515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33090" y="2802636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OFFICERS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51560" y="3182112"/>
            <a:ext cx="28142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Swaps that improve type balance without disturbing anything else.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414418" y="2523744"/>
            <a:ext cx="3362858" cy="1417320"/>
          </a:xfrm>
          <a:prstGeom prst="roundRect">
            <a:avLst>
              <a:gd name="adj" fmla="val 387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88738" y="2724912"/>
            <a:ext cx="17718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Profile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570269" y="2761488"/>
            <a:ext cx="932688" cy="274320"/>
          </a:xfrm>
          <a:prstGeom prst="roundRect">
            <a:avLst>
              <a:gd name="adj" fmla="val 13333"/>
            </a:avLst>
          </a:prstGeom>
          <a:solidFill>
            <a:srgbClr val="0E352C"/>
          </a:solidFill>
          <a:ln w="9525">
            <a:solidFill>
              <a:srgbClr val="185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0269" y="2802636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EVERYONE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688738" y="3182112"/>
            <a:ext cx="28142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points, your answers, your recognitions.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51597" y="2523744"/>
            <a:ext cx="3362858" cy="1417320"/>
          </a:xfrm>
          <a:prstGeom prst="roundRect">
            <a:avLst>
              <a:gd name="adj" fmla="val 387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5917" y="2724912"/>
            <a:ext cx="17718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Sign-up form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0207447" y="2761488"/>
            <a:ext cx="932688" cy="274320"/>
          </a:xfrm>
          <a:prstGeom prst="roundRect">
            <a:avLst>
              <a:gd name="adj" fmla="val 13333"/>
            </a:avLst>
          </a:prstGeom>
          <a:solidFill>
            <a:srgbClr val="0E352C"/>
          </a:solidFill>
          <a:ln w="9525">
            <a:solidFill>
              <a:srgbClr val="18584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07447" y="2802636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EVERYONE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325917" y="3182112"/>
            <a:ext cx="28142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chapter’s form, filled in without leaving the page.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77240" y="4215384"/>
            <a:ext cx="3362858" cy="1417320"/>
          </a:xfrm>
          <a:prstGeom prst="roundRect">
            <a:avLst>
              <a:gd name="adj" fmla="val 387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4416552"/>
            <a:ext cx="17718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Access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2933090" y="4453128"/>
            <a:ext cx="932688" cy="274320"/>
          </a:xfrm>
          <a:prstGeom prst="roundRect">
            <a:avLst>
              <a:gd name="adj" fmla="val 13333"/>
            </a:avLst>
          </a:prstGeom>
          <a:solidFill>
            <a:srgbClr val="151515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33090" y="4494276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MASTER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51560" y="4873752"/>
            <a:ext cx="28142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chapters, join codes, every account.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DRAFT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random, and not a popularity contest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68296"/>
            <a:ext cx="45720" cy="228600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Size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88136" y="3118104"/>
            <a:ext cx="270449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Orgs come out within one member of each other.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2706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2706" y="2368296"/>
            <a:ext cx="45720" cy="228600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1" name="Text 9"/>
          <p:cNvSpPr/>
          <p:nvPr/>
        </p:nvSpPr>
        <p:spPr>
          <a:xfrm>
            <a:off x="4743602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Division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4743602" y="3118104"/>
            <a:ext cx="270449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tracks the chapter runs get spread evenly rather than clustering.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88173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88173" y="2368296"/>
            <a:ext cx="45720" cy="2286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5" name="Text 13"/>
          <p:cNvSpPr/>
          <p:nvPr/>
        </p:nvSpPr>
        <p:spPr>
          <a:xfrm>
            <a:off x="8399069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Tenure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8399069" y="3118104"/>
            <a:ext cx="270449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First-years and returning members are mixed, so no Org is all new.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leadership interest, and — if the chapter uses them — personality types. That last one is what the balance score measures. Lower is better.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FLEXIBLE PIECES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“Either / no preference” is a real answer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638044"/>
            <a:ext cx="10637215" cy="3017520"/>
          </a:xfrm>
          <a:prstGeom prst="roundRect">
            <a:avLst>
              <a:gd name="adj" fmla="val 1818"/>
            </a:avLst>
          </a:prstGeom>
          <a:solidFill>
            <a:srgbClr val="0E0E0E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38044"/>
            <a:ext cx="54864" cy="301752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7" name="Text 5"/>
          <p:cNvSpPr/>
          <p:nvPr/>
        </p:nvSpPr>
        <p:spPr>
          <a:xfrm>
            <a:off x="1380744" y="3113532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with no division preference are what let a lopsided chapter still come out even. They go wherever the numbers need them.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380744" y="4302252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If you genuinely do not mind, saying so is more useful than guessing.</a:t>
            </a:r>
            <a:endParaRPr lang="en-US" sz="2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ORG CUP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Points have a kind, and a colour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542032"/>
            <a:ext cx="3362858" cy="786384"/>
          </a:xfrm>
          <a:prstGeom prst="roundRect">
            <a:avLst>
              <a:gd name="adj" fmla="val 697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843784"/>
            <a:ext cx="182880" cy="18288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7" name="Text 5"/>
          <p:cNvSpPr/>
          <p:nvPr/>
        </p:nvSpPr>
        <p:spPr>
          <a:xfrm>
            <a:off x="1380744" y="2743200"/>
            <a:ext cx="24850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Meetings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414418" y="2542032"/>
            <a:ext cx="3362858" cy="786384"/>
          </a:xfrm>
          <a:prstGeom prst="roundRect">
            <a:avLst>
              <a:gd name="adj" fmla="val 697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88738" y="2843784"/>
            <a:ext cx="182880" cy="18288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0" name="Text 8"/>
          <p:cNvSpPr/>
          <p:nvPr/>
        </p:nvSpPr>
        <p:spPr>
          <a:xfrm>
            <a:off x="5017922" y="2743200"/>
            <a:ext cx="24850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Competition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51597" y="2542032"/>
            <a:ext cx="3362858" cy="786384"/>
          </a:xfrm>
          <a:prstGeom prst="roundRect">
            <a:avLst>
              <a:gd name="adj" fmla="val 697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25917" y="2843784"/>
            <a:ext cx="182880" cy="182880"/>
          </a:xfrm>
          <a:prstGeom prst="rect">
            <a:avLst/>
          </a:prstGeom>
          <a:solidFill>
            <a:srgbClr val="4FAE8C"/>
          </a:solidFill>
          <a:ln/>
        </p:spPr>
      </p:sp>
      <p:sp>
        <p:nvSpPr>
          <p:cNvPr id="13" name="Text 11"/>
          <p:cNvSpPr/>
          <p:nvPr/>
        </p:nvSpPr>
        <p:spPr>
          <a:xfrm>
            <a:off x="8655101" y="2743200"/>
            <a:ext cx="24850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Service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7240" y="3602736"/>
            <a:ext cx="3362858" cy="786384"/>
          </a:xfrm>
          <a:prstGeom prst="roundRect">
            <a:avLst>
              <a:gd name="adj" fmla="val 697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3904488"/>
            <a:ext cx="182880" cy="182880"/>
          </a:xfrm>
          <a:prstGeom prst="rect">
            <a:avLst/>
          </a:prstGeom>
          <a:solidFill>
            <a:srgbClr val="C9A24A"/>
          </a:solidFill>
          <a:ln/>
        </p:spPr>
      </p:sp>
      <p:sp>
        <p:nvSpPr>
          <p:cNvPr id="16" name="Text 14"/>
          <p:cNvSpPr/>
          <p:nvPr/>
        </p:nvSpPr>
        <p:spPr>
          <a:xfrm>
            <a:off x="1380744" y="3803904"/>
            <a:ext cx="24850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Social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4414418" y="3602736"/>
            <a:ext cx="3362858" cy="786384"/>
          </a:xfrm>
          <a:prstGeom prst="roundRect">
            <a:avLst>
              <a:gd name="adj" fmla="val 697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8738" y="3904488"/>
            <a:ext cx="182880" cy="182880"/>
          </a:xfrm>
          <a:prstGeom prst="rect">
            <a:avLst/>
          </a:prstGeom>
          <a:solidFill>
            <a:srgbClr val="A98BD0"/>
          </a:solidFill>
          <a:ln/>
        </p:spPr>
      </p:sp>
      <p:sp>
        <p:nvSpPr>
          <p:cNvPr id="19" name="Text 17"/>
          <p:cNvSpPr/>
          <p:nvPr/>
        </p:nvSpPr>
        <p:spPr>
          <a:xfrm>
            <a:off x="5017922" y="3803904"/>
            <a:ext cx="24850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Leadership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8051597" y="3602736"/>
            <a:ext cx="3362858" cy="786384"/>
          </a:xfrm>
          <a:prstGeom prst="roundRect">
            <a:avLst>
              <a:gd name="adj" fmla="val 697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25917" y="3904488"/>
            <a:ext cx="182880" cy="182880"/>
          </a:xfrm>
          <a:prstGeom prst="rect">
            <a:avLst/>
          </a:prstGeom>
          <a:solidFill>
            <a:srgbClr val="4FA3A3"/>
          </a:solidFill>
          <a:ln/>
        </p:spPr>
      </p:sp>
      <p:sp>
        <p:nvSpPr>
          <p:cNvPr id="22" name="Text 20"/>
          <p:cNvSpPr/>
          <p:nvPr/>
        </p:nvSpPr>
        <p:spPr>
          <a:xfrm>
            <a:off x="8655101" y="3803904"/>
            <a:ext cx="24850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Recruiting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77240" y="4882896"/>
            <a:ext cx="100885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set what each action is worth, and it is meant to be edited — the catalog should describe what this chapter actually does. Grouping by kind is what shows an Org winning on attendance but doing no service.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ORG CUP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bonuses sit on top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68296"/>
            <a:ext cx="45720" cy="228600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Cross-division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88136" y="3118104"/>
            <a:ext cx="270449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up on the other side of the chapter and earn extra. This exists to stop two divisions becoming two clubs.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2706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2706" y="2368296"/>
            <a:ext cx="45720" cy="228600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11" name="Text 9"/>
          <p:cNvSpPr/>
          <p:nvPr/>
        </p:nvSpPr>
        <p:spPr>
          <a:xfrm>
            <a:off x="4743602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preference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4743602" y="3118104"/>
            <a:ext cx="270449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with no division preference earn a little extra for exploring.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88173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88173" y="2368296"/>
            <a:ext cx="45720" cy="2286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5" name="Text 13"/>
          <p:cNvSpPr/>
          <p:nvPr/>
        </p:nvSpPr>
        <p:spPr>
          <a:xfrm>
            <a:off x="8399069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Full team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8399069" y="3118104"/>
            <a:ext cx="270449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most of an Org shows up to the same thing, the whole Org scores. Dragging your friends along is the point.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Standings rank on points per member, not raw totals — otherwise an Org with eleven people beats one with nine regardless of effort.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OWN PAGE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one screen written for you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47672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" y="21214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Points, and where they came from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71416" y="2130552"/>
            <a:ext cx="66321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total, your entries, and the split across the six kinds.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3154680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332841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sign-up answers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471416" y="3337560"/>
            <a:ext cx="66321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division, type, leadership interest — read back from the chapter’s sheet.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77240" y="4361688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8136" y="45354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recognitions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471416" y="4544568"/>
            <a:ext cx="66321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Awarded by officers for what the points system does not capture. They do not affect the Cup.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77240" y="5751576"/>
            <a:ext cx="10088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member’s type and points are theirs. Officers see them because running the draft requires it; other members do not.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OFFICERS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semester, start to finish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38528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6" name="Text 4"/>
          <p:cNvSpPr/>
          <p:nvPr/>
        </p:nvSpPr>
        <p:spPr>
          <a:xfrm>
            <a:off x="1014984" y="1993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14984" y="22677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up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880360" y="2048256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divisions and ranks, create the form, hand out the join code.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2834640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0" name="Text 8"/>
          <p:cNvSpPr/>
          <p:nvPr/>
        </p:nvSpPr>
        <p:spPr>
          <a:xfrm>
            <a:off x="1014984" y="28895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WEEKS 1–2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14984" y="3163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Collect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880360" y="2944368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join and appear on the roster on their own. Chase the ones who have not.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3730752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4" name="Text 12"/>
          <p:cNvSpPr/>
          <p:nvPr/>
        </p:nvSpPr>
        <p:spPr>
          <a:xfrm>
            <a:off x="1014984" y="37856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014984" y="405993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Draft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880360" y="3840480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it, read the flags, take the Assistant’s swaps, hand-adjust, announce.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26864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8" name="Text 16"/>
          <p:cNvSpPr/>
          <p:nvPr/>
        </p:nvSpPr>
        <p:spPr>
          <a:xfrm>
            <a:off x="1014984" y="4681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TERM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14984" y="4956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880360" y="4736592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after every event. This is the whole job.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7240" y="5522976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22" name="Text 20"/>
          <p:cNvSpPr/>
          <p:nvPr/>
        </p:nvSpPr>
        <p:spPr>
          <a:xfrm>
            <a:off x="1014984" y="5577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14984" y="58521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Hand over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880360" y="5632704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 save file, then clear the data for a new semester.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ONE THING THAT GOES WRONG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browser copy is not a backup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638044"/>
            <a:ext cx="10637215" cy="3017520"/>
          </a:xfrm>
          <a:prstGeom prst="roundRect">
            <a:avLst>
              <a:gd name="adj" fmla="val 1818"/>
            </a:avLst>
          </a:prstGeom>
          <a:solidFill>
            <a:srgbClr val="0E0E0E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38044"/>
            <a:ext cx="54864" cy="301752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7" name="Text 5"/>
          <p:cNvSpPr/>
          <p:nvPr/>
        </p:nvSpPr>
        <p:spPr>
          <a:xfrm>
            <a:off x="1380744" y="3113532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disappears if the cache is cleared or the officer changes laptops.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380744" y="4302252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Export a save file at the end of each semester. Never let one person’s browser hold the only copy of anything.</a:t>
            </a:r>
            <a:endParaRPr lang="en-US" sz="2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057400"/>
            <a:ext cx="9814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88720" y="2395728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org-draft.vercel.app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188720" y="3712464"/>
            <a:ext cx="1463040" cy="41148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3986784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in, join with the code, fill in the form. The full written orientation is at /orientation.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5943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Questions go to your chapter officers.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 Beta Lambda — Chapter orientation</dc:title>
  <dc:subject>PptxGenJS Presentation</dc:subject>
  <dc:creator>The Org System</dc:creator>
  <cp:lastModifiedBy>The Org System</cp:lastModifiedBy>
  <cp:revision>1</cp:revision>
  <dcterms:created xsi:type="dcterms:W3CDTF">2026-09-06T20:09:10Z</dcterms:created>
  <dcterms:modified xsi:type="dcterms:W3CDTF">2026-09-06T20:09:10Z</dcterms:modified>
</cp:coreProperties>
</file>